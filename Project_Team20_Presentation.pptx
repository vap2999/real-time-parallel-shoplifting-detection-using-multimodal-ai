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249378265_5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5249378265_5_9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249378265_5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5249378265_5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249378265_5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5249378265_5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249378265_5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5249378265_5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249378265_5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5249378265_5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249378265_5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5249378265_5_1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249378265_5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5249378265_5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249378265_5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5249378265_5_1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249378265_5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5249378265_5_1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249378265_5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5249378265_5_1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249378265_5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5249378265_5_1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249378265_5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5249378265_5_1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249378265_5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5249378265_5_15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249378265_5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5249378265_5_16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249378265_5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5249378265_5_1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5249378265_5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5249378265_5_17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249378265_5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5249378265_5_17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5249378265_5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5249378265_5_1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685800" y="1010210"/>
            <a:ext cx="7772400" cy="60512"/>
          </a:xfrm>
          <a:prstGeom prst="rect">
            <a:avLst/>
          </a:prstGeom>
          <a:blipFill rotWithShape="1">
            <a:blip r:embed="rId2">
              <a:alphaModFix amt="80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685800" y="3212072"/>
            <a:ext cx="7772400" cy="60512"/>
          </a:xfrm>
          <a:prstGeom prst="rect">
            <a:avLst/>
          </a:prstGeom>
          <a:blipFill rotWithShape="1">
            <a:blip r:embed="rId2">
              <a:alphaModFix amt="80000"/>
            </a:blip>
            <a:tile algn="ctr" flip="xy" tx="0" sx="92000" ty="-7175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685800" y="1113584"/>
            <a:ext cx="7772400" cy="2057400"/>
          </a:xfrm>
          <a:prstGeom prst="rect">
            <a:avLst/>
          </a:prstGeom>
          <a:blipFill rotWithShape="1">
            <a:blip r:embed="rId2">
              <a:alphaModFix amt="8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14"/>
          <p:cNvGrpSpPr/>
          <p:nvPr/>
        </p:nvGrpSpPr>
        <p:grpSpPr>
          <a:xfrm>
            <a:off x="7234780" y="3080267"/>
            <a:ext cx="914400" cy="685800"/>
            <a:chOff x="9685338" y="4460675"/>
            <a:chExt cx="1080904" cy="1080902"/>
          </a:xfrm>
        </p:grpSpPr>
        <p:sp>
          <p:nvSpPr>
            <p:cNvPr id="64" name="Google Shape;64;p14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14"/>
          <p:cNvSpPr txBox="1"/>
          <p:nvPr>
            <p:ph type="ctrTitle"/>
          </p:nvPr>
        </p:nvSpPr>
        <p:spPr>
          <a:xfrm>
            <a:off x="788670" y="1074167"/>
            <a:ext cx="7593330" cy="2276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400"/>
              <a:buFont typeface="Rockwell"/>
              <a:buNone/>
              <a:defRPr b="0" sz="6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802386" y="3291840"/>
            <a:ext cx="5918454" cy="8023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  <a:defRPr b="0" sz="18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None/>
              <a:defRPr sz="1800"/>
            </a:lvl9pPr>
          </a:lstStyle>
          <a:p/>
        </p:txBody>
      </p:sp>
      <p:sp>
        <p:nvSpPr>
          <p:cNvPr id="68" name="Google Shape;68;p14"/>
          <p:cNvSpPr txBox="1"/>
          <p:nvPr>
            <p:ph idx="10" type="dt"/>
          </p:nvPr>
        </p:nvSpPr>
        <p:spPr>
          <a:xfrm>
            <a:off x="5992368" y="4704589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1" type="ftr"/>
          </p:nvPr>
        </p:nvSpPr>
        <p:spPr>
          <a:xfrm>
            <a:off x="812805" y="4704589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7244280" y="3170396"/>
            <a:ext cx="8954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685800" y="363474"/>
            <a:ext cx="7772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685800" y="1591056"/>
            <a:ext cx="777240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0" type="dt"/>
          </p:nvPr>
        </p:nvSpPr>
        <p:spPr>
          <a:xfrm>
            <a:off x="5992368" y="4704589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1" type="ftr"/>
          </p:nvPr>
        </p:nvSpPr>
        <p:spPr>
          <a:xfrm>
            <a:off x="685800" y="4704589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83346" y="4704589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0" y="3688492"/>
            <a:ext cx="9144000" cy="1455007"/>
          </a:xfrm>
          <a:prstGeom prst="rect">
            <a:avLst/>
          </a:prstGeom>
          <a:blipFill rotWithShape="1">
            <a:blip r:embed="rId2">
              <a:alphaModFix amt="8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type="title"/>
          </p:nvPr>
        </p:nvSpPr>
        <p:spPr>
          <a:xfrm>
            <a:off x="1625346" y="918972"/>
            <a:ext cx="6960870" cy="2640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400"/>
              <a:buFont typeface="Rockwell"/>
              <a:buNone/>
              <a:defRPr b="0"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1624330" y="3765042"/>
            <a:ext cx="678942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  <a:defRPr b="0" sz="1800">
                <a:solidFill>
                  <a:srgbClr val="69240B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6445251" y="4704589"/>
            <a:ext cx="198323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9240B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1636099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9240B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3" name="Google Shape;83;p16"/>
          <p:cNvGrpSpPr/>
          <p:nvPr/>
        </p:nvGrpSpPr>
        <p:grpSpPr>
          <a:xfrm>
            <a:off x="633862" y="1822967"/>
            <a:ext cx="914400" cy="685800"/>
            <a:chOff x="9685338" y="4460675"/>
            <a:chExt cx="1080904" cy="1080902"/>
          </a:xfrm>
        </p:grpSpPr>
        <p:sp>
          <p:nvSpPr>
            <p:cNvPr id="84" name="Google Shape;84;p16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645450" y="1881455"/>
            <a:ext cx="891224" cy="540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685800" y="363474"/>
            <a:ext cx="7772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685800" y="1645920"/>
            <a:ext cx="3657600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4792218" y="1645920"/>
            <a:ext cx="3657600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5992368" y="4704589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685800" y="4704589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83346" y="4704589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685800" y="363474"/>
            <a:ext cx="7772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685800" y="1536192"/>
            <a:ext cx="3657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97" name="Google Shape;97;p18"/>
          <p:cNvSpPr txBox="1"/>
          <p:nvPr>
            <p:ph idx="2" type="body"/>
          </p:nvPr>
        </p:nvSpPr>
        <p:spPr>
          <a:xfrm>
            <a:off x="685800" y="2057400"/>
            <a:ext cx="3657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98" name="Google Shape;98;p18"/>
          <p:cNvSpPr txBox="1"/>
          <p:nvPr>
            <p:ph idx="3" type="body"/>
          </p:nvPr>
        </p:nvSpPr>
        <p:spPr>
          <a:xfrm>
            <a:off x="4820793" y="1536192"/>
            <a:ext cx="3657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99" name="Google Shape;99;p18"/>
          <p:cNvSpPr txBox="1"/>
          <p:nvPr>
            <p:ph idx="4" type="body"/>
          </p:nvPr>
        </p:nvSpPr>
        <p:spPr>
          <a:xfrm>
            <a:off x="4820793" y="2057400"/>
            <a:ext cx="3657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100" name="Google Shape;100;p18"/>
          <p:cNvSpPr txBox="1"/>
          <p:nvPr>
            <p:ph idx="10" type="dt"/>
          </p:nvPr>
        </p:nvSpPr>
        <p:spPr>
          <a:xfrm>
            <a:off x="5992368" y="4704589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1" type="ftr"/>
          </p:nvPr>
        </p:nvSpPr>
        <p:spPr>
          <a:xfrm>
            <a:off x="685800" y="4704589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83346" y="4704589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685800" y="363474"/>
            <a:ext cx="7772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0" type="dt"/>
          </p:nvPr>
        </p:nvSpPr>
        <p:spPr>
          <a:xfrm>
            <a:off x="5992368" y="4704589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9240B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1" type="ftr"/>
          </p:nvPr>
        </p:nvSpPr>
        <p:spPr>
          <a:xfrm>
            <a:off x="685800" y="4704589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9240B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83346" y="4704589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idx="10" type="dt"/>
          </p:nvPr>
        </p:nvSpPr>
        <p:spPr>
          <a:xfrm>
            <a:off x="5992368" y="4704589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1" type="ftr"/>
          </p:nvPr>
        </p:nvSpPr>
        <p:spPr>
          <a:xfrm>
            <a:off x="685800" y="4704589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83346" y="4704589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6412230" y="514350"/>
            <a:ext cx="240030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ckwell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628650" y="514350"/>
            <a:ext cx="5033772" cy="3765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6412230" y="1817370"/>
            <a:ext cx="24003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48"/>
              <a:buNone/>
              <a:defRPr sz="1350">
                <a:solidFill>
                  <a:srgbClr val="69240B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grpSp>
        <p:nvGrpSpPr>
          <p:cNvPr id="117" name="Google Shape;117;p21"/>
          <p:cNvGrpSpPr/>
          <p:nvPr/>
        </p:nvGrpSpPr>
        <p:grpSpPr>
          <a:xfrm>
            <a:off x="8522664" y="4691444"/>
            <a:ext cx="393192" cy="294894"/>
            <a:chOff x="8532189" y="5068824"/>
            <a:chExt cx="393192" cy="393192"/>
          </a:xfrm>
        </p:grpSpPr>
        <p:sp>
          <p:nvSpPr>
            <p:cNvPr id="118" name="Google Shape;118;p21"/>
            <p:cNvSpPr/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1"/>
            <p:cNvSpPr/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21"/>
          <p:cNvSpPr txBox="1"/>
          <p:nvPr>
            <p:ph idx="10" type="dt"/>
          </p:nvPr>
        </p:nvSpPr>
        <p:spPr>
          <a:xfrm>
            <a:off x="5992368" y="4704589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idx="11" type="ftr"/>
          </p:nvPr>
        </p:nvSpPr>
        <p:spPr>
          <a:xfrm>
            <a:off x="685800" y="4704589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83346" y="4704589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2"/>
          <p:cNvSpPr txBox="1"/>
          <p:nvPr>
            <p:ph type="title"/>
          </p:nvPr>
        </p:nvSpPr>
        <p:spPr>
          <a:xfrm>
            <a:off x="6412230" y="514350"/>
            <a:ext cx="240030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ckwell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2"/>
          <p:cNvSpPr/>
          <p:nvPr>
            <p:ph idx="2" type="pic"/>
          </p:nvPr>
        </p:nvSpPr>
        <p:spPr>
          <a:xfrm>
            <a:off x="0" y="0"/>
            <a:ext cx="6227805" cy="51435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6412230" y="1817370"/>
            <a:ext cx="24003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48"/>
              <a:buNone/>
              <a:defRPr sz="1350">
                <a:solidFill>
                  <a:srgbClr val="69240B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grpSp>
        <p:nvGrpSpPr>
          <p:cNvPr id="128" name="Google Shape;128;p22"/>
          <p:cNvGrpSpPr/>
          <p:nvPr/>
        </p:nvGrpSpPr>
        <p:grpSpPr>
          <a:xfrm>
            <a:off x="8522664" y="4691444"/>
            <a:ext cx="393192" cy="294894"/>
            <a:chOff x="8532189" y="5068824"/>
            <a:chExt cx="393192" cy="393192"/>
          </a:xfrm>
        </p:grpSpPr>
        <p:sp>
          <p:nvSpPr>
            <p:cNvPr id="129" name="Google Shape;129;p22"/>
            <p:cNvSpPr/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2"/>
            <p:cNvSpPr/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22"/>
          <p:cNvSpPr txBox="1"/>
          <p:nvPr>
            <p:ph idx="10" type="dt"/>
          </p:nvPr>
        </p:nvSpPr>
        <p:spPr>
          <a:xfrm>
            <a:off x="5992368" y="4704589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8483346" y="4704589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685800" y="363474"/>
            <a:ext cx="7772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 rot="5400000">
            <a:off x="3052953" y="-776097"/>
            <a:ext cx="3038094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0" type="dt"/>
          </p:nvPr>
        </p:nvSpPr>
        <p:spPr>
          <a:xfrm>
            <a:off x="5992368" y="4704589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1" type="ftr"/>
          </p:nvPr>
        </p:nvSpPr>
        <p:spPr>
          <a:xfrm>
            <a:off x="685800" y="4704589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483346" y="4704589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 rot="5400000">
            <a:off x="5386388" y="1557338"/>
            <a:ext cx="4229100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 rot="5400000">
            <a:off x="1500188" y="-300037"/>
            <a:ext cx="4229100" cy="562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0" type="dt"/>
          </p:nvPr>
        </p:nvSpPr>
        <p:spPr>
          <a:xfrm>
            <a:off x="5992368" y="4704589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11" type="ftr"/>
          </p:nvPr>
        </p:nvSpPr>
        <p:spPr>
          <a:xfrm>
            <a:off x="685800" y="4704589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8483346" y="4704589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8522664" y="4691444"/>
            <a:ext cx="393192" cy="294894"/>
            <a:chOff x="8532189" y="5068824"/>
            <a:chExt cx="393192" cy="393192"/>
          </a:xfrm>
        </p:grpSpPr>
        <p:sp>
          <p:nvSpPr>
            <p:cNvPr id="52" name="Google Shape;52;p13"/>
            <p:cNvSpPr/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13"/>
          <p:cNvSpPr txBox="1"/>
          <p:nvPr>
            <p:ph type="title"/>
          </p:nvPr>
        </p:nvSpPr>
        <p:spPr>
          <a:xfrm>
            <a:off x="685800" y="363474"/>
            <a:ext cx="7772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  <a:defRPr b="0" i="0" sz="4200" u="none" cap="none" strike="noStrik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685800" y="1591056"/>
            <a:ext cx="777240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25755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96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96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96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496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496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4959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4959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5992368" y="4704589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69240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685800" y="4704589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69240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83346" y="4704589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ask.org" TargetMode="External"/><Relationship Id="rId4" Type="http://schemas.openxmlformats.org/officeDocument/2006/relationships/hyperlink" Target="https://dask.org" TargetMode="External"/><Relationship Id="rId5" Type="http://schemas.openxmlformats.org/officeDocument/2006/relationships/hyperlink" Target="https://joblib.readthedocs.io" TargetMode="External"/><Relationship Id="rId6" Type="http://schemas.openxmlformats.org/officeDocument/2006/relationships/hyperlink" Target="https://joblib.readthedocs.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ctrTitle"/>
          </p:nvPr>
        </p:nvSpPr>
        <p:spPr>
          <a:xfrm>
            <a:off x="788670" y="1074167"/>
            <a:ext cx="7593330" cy="2276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400"/>
              <a:buFont typeface="Rockwell"/>
              <a:buNone/>
            </a:pPr>
            <a:r>
              <a:rPr b="0" lang="en" sz="4200" cap="none"/>
              <a:t>REAL-TIME PARALLEL SHOPLIFTING DETECTION USING MULTIMODAL AI</a:t>
            </a:r>
            <a:endParaRPr sz="4200"/>
          </a:p>
        </p:txBody>
      </p:sp>
      <p:sp>
        <p:nvSpPr>
          <p:cNvPr id="150" name="Google Shape;150;p25"/>
          <p:cNvSpPr txBox="1"/>
          <p:nvPr>
            <p:ph idx="1" type="subTitle"/>
          </p:nvPr>
        </p:nvSpPr>
        <p:spPr>
          <a:xfrm>
            <a:off x="5076075" y="4498897"/>
            <a:ext cx="5918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20: Vanshi Patel, Malav Gajera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5"/>
          <p:cNvSpPr txBox="1"/>
          <p:nvPr>
            <p:ph idx="1" type="subTitle"/>
          </p:nvPr>
        </p:nvSpPr>
        <p:spPr>
          <a:xfrm>
            <a:off x="693800" y="3351027"/>
            <a:ext cx="59184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Under guidance of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Prof. Dr Handan Liu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685800" y="363474"/>
            <a:ext cx="7772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b="0" lang="en" sz="4200" cap="none">
                <a:latin typeface="Rockwell"/>
                <a:ea typeface="Rockwell"/>
                <a:cs typeface="Rockwell"/>
                <a:sym typeface="Rockwell"/>
              </a:rPr>
              <a:t>OVERVIEW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685800" y="1591056"/>
            <a:ext cx="777240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93675" lvl="0" marL="18288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▪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Process of training models on multiple GPUs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3675" lvl="0" marL="18288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▪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Parallelization strategies for data loading and preprocessing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3675" lvl="0" marL="18288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▪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Data Parallelism (DP) for model training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3675" lvl="0" marL="18288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▪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Distributed Data Parallel (DDP) implementation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3675" lvl="0" marL="18288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▪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Fully Sharded Data Parallel (FSDP) for maximum memory efficiency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3675" lvl="0" marL="18288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▪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Performance analysis across parallelization techniques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3675" lvl="0" marL="18288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▪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Resource utilization visualization and optimization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26950" y="48124"/>
            <a:ext cx="77724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b="0" lang="en" sz="4200" cap="none">
                <a:latin typeface="Rockwell"/>
                <a:ea typeface="Rockwell"/>
                <a:cs typeface="Rockwell"/>
                <a:sym typeface="Rockwell"/>
              </a:rPr>
              <a:t>INTRODUCTION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740500" y="1558428"/>
            <a:ext cx="7772400" cy="16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4625" lvl="0" marL="18288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▪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Retail shrinkage: $94.5 billion annual losses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174625" lvl="0" marL="18288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▪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Computationally intensive real-time video processing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174625" lvl="0" marL="18288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▪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Multiple camera streams require sophisticated parallelization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174625" lvl="0" marL="18288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▪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Multimodal integration increases computational demands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7"/>
          <p:cNvSpPr txBox="1"/>
          <p:nvPr>
            <p:ph type="title"/>
          </p:nvPr>
        </p:nvSpPr>
        <p:spPr>
          <a:xfrm>
            <a:off x="588100" y="678550"/>
            <a:ext cx="77724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Economic Impact and Technical Challenge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7"/>
          <p:cNvSpPr txBox="1"/>
          <p:nvPr>
            <p:ph type="title"/>
          </p:nvPr>
        </p:nvSpPr>
        <p:spPr>
          <a:xfrm>
            <a:off x="588100" y="2679600"/>
            <a:ext cx="77724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Project Goal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740500" y="3776925"/>
            <a:ext cx="7772400" cy="16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4625" lvl="0" marL="18288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▪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Develop an efficient, real-time shoplifting detection system using advanced parallel computing techniques and multimodal AI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685800" y="363474"/>
            <a:ext cx="7772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b="0" lang="en" sz="4200" cap="none">
                <a:latin typeface="Rockwell"/>
                <a:ea typeface="Rockwell"/>
                <a:cs typeface="Rockwell"/>
                <a:sym typeface="Rockwell"/>
              </a:rPr>
              <a:t>PARALLELIZATION STRATEGIES</a:t>
            </a:r>
            <a:endParaRPr/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685800" y="1591056"/>
            <a:ext cx="777240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8125" lvl="0" marL="182880" rtl="0" algn="l">
              <a:spcBef>
                <a:spcPts val="1200"/>
              </a:spcBef>
              <a:spcAft>
                <a:spcPts val="0"/>
              </a:spcAft>
              <a:buSzPts val="2400"/>
              <a:buChar char="▪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Joblib Parallelization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: Simple but effective CPU parallelism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38125" lvl="0" marL="182880" rtl="0" algn="l">
              <a:spcBef>
                <a:spcPts val="1200"/>
              </a:spcBef>
              <a:spcAft>
                <a:spcPts val="0"/>
              </a:spcAft>
              <a:buSzPts val="2400"/>
              <a:buChar char="▪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Dask Distributed Computing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: Scalable cluster computing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38125" lvl="0" marL="182880" rtl="0" algn="l">
              <a:spcBef>
                <a:spcPts val="1200"/>
              </a:spcBef>
              <a:spcAft>
                <a:spcPts val="0"/>
              </a:spcAft>
              <a:buSzPts val="2400"/>
              <a:buChar char="▪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Data Parallel (DP)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: Basic multi-GPU training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38125" lvl="0" marL="182880" rtl="0" algn="l">
              <a:spcBef>
                <a:spcPts val="1200"/>
              </a:spcBef>
              <a:spcAft>
                <a:spcPts val="0"/>
              </a:spcAft>
              <a:buSzPts val="2400"/>
              <a:buChar char="▪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Distributed Data Parallel (DDP)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: Process-based efficient parallelism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38125" lvl="0" marL="182880" rtl="0" algn="l">
              <a:spcBef>
                <a:spcPts val="1200"/>
              </a:spcBef>
              <a:spcAft>
                <a:spcPts val="0"/>
              </a:spcAft>
              <a:buSzPts val="2400"/>
              <a:buChar char="▪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Fully Sharded Data Parallel (FSDP)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: Memory-optimized parameter sharding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294325" y="48149"/>
            <a:ext cx="77724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80"/>
              <a:buFont typeface="Rockwell"/>
              <a:buNone/>
            </a:pPr>
            <a:r>
              <a:rPr b="0" lang="en" sz="3480" cap="none">
                <a:latin typeface="Rockwell"/>
                <a:ea typeface="Rockwell"/>
                <a:cs typeface="Rockwell"/>
                <a:sym typeface="Rockwell"/>
              </a:rPr>
              <a:t>PARALLEL DATA LOADING &amp; PREPROCESSING</a:t>
            </a:r>
            <a:endParaRPr sz="3480"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90300" y="1545806"/>
            <a:ext cx="77724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3525" lvl="0" marL="182880" rtl="0" algn="l">
              <a:spcBef>
                <a:spcPts val="1200"/>
              </a:spcBef>
              <a:spcAft>
                <a:spcPts val="0"/>
              </a:spcAft>
              <a:buSzPts val="2800"/>
              <a:buChar char="▪"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Joblib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: Parallel video file processing with configurable worker counts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63525" lvl="0" marL="182880" rtl="0" algn="l">
              <a:spcBef>
                <a:spcPts val="1200"/>
              </a:spcBef>
              <a:spcAft>
                <a:spcPts val="0"/>
              </a:spcAft>
              <a:buSzPts val="2800"/>
              <a:buChar char="▪"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Dask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: LocalCluster configuration with customizable workers per CPU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63525" lvl="0" marL="182880" rtl="0" algn="l">
              <a:spcBef>
                <a:spcPts val="1200"/>
              </a:spcBef>
              <a:spcAft>
                <a:spcPts val="0"/>
              </a:spcAft>
              <a:buSzPts val="2800"/>
              <a:buChar char="▪"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Multi-threaded Frame Extraction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: Efficient temporal sampling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63525" lvl="0" marL="182880" rtl="0" algn="l">
              <a:spcBef>
                <a:spcPts val="1200"/>
              </a:spcBef>
              <a:spcAft>
                <a:spcPts val="0"/>
              </a:spcAft>
              <a:buSzPts val="2800"/>
              <a:buChar char="▪"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Batched processing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: Optimized disk I/O operations</a:t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685800" y="363474"/>
            <a:ext cx="7772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b="0" lang="en" sz="4200" cap="none">
                <a:latin typeface="Rockwell"/>
                <a:ea typeface="Rockwell"/>
                <a:cs typeface="Rockwell"/>
                <a:sym typeface="Rockwell"/>
              </a:rPr>
              <a:t>MULTIMODAL FEATURE EXTRACTION</a:t>
            </a:r>
            <a:endParaRPr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152400" y="1679950"/>
            <a:ext cx="43206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Parallel Feature Extraction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Distributes tasks across available GPUs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Processes videos in batches to optimize memory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Implements dynamic load balancing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508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Multimodal Feature Fusion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Integration of visual features with pose estimation data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Feature normalization and alignment across modalities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95675"/>
            <a:ext cx="3736349" cy="391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203200" y="-1"/>
            <a:ext cx="77724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b="0" lang="en" sz="4200" cap="none">
                <a:latin typeface="Rockwell"/>
                <a:ea typeface="Rockwell"/>
                <a:cs typeface="Rockwell"/>
                <a:sym typeface="Rockwell"/>
              </a:rPr>
              <a:t>DATA PARALLEL (DP)</a:t>
            </a:r>
            <a:endParaRPr/>
          </a:p>
        </p:txBody>
      </p:sp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304800" y="1324350"/>
            <a:ext cx="4803300" cy="3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9387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475"/>
              <a:buFont typeface="Arial"/>
              <a:buChar char="▪"/>
            </a:pPr>
            <a:r>
              <a:rPr lang="en" sz="1729">
                <a:latin typeface="Arial"/>
                <a:ea typeface="Arial"/>
                <a:cs typeface="Arial"/>
                <a:sym typeface="Arial"/>
              </a:rPr>
              <a:t>Creates multiple replicas of model on different GPUs</a:t>
            </a:r>
            <a:endParaRPr sz="1729">
              <a:latin typeface="Arial"/>
              <a:ea typeface="Arial"/>
              <a:cs typeface="Arial"/>
              <a:sym typeface="Arial"/>
            </a:endParaRPr>
          </a:p>
          <a:p>
            <a:pPr indent="-179387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475"/>
              <a:buFont typeface="Arial"/>
              <a:buChar char="▪"/>
            </a:pPr>
            <a:r>
              <a:rPr lang="en" sz="1729">
                <a:latin typeface="Arial"/>
                <a:ea typeface="Arial"/>
                <a:cs typeface="Arial"/>
                <a:sym typeface="Arial"/>
              </a:rPr>
              <a:t>Distributes batches of data across available GPUs</a:t>
            </a:r>
            <a:endParaRPr sz="1729">
              <a:latin typeface="Arial"/>
              <a:ea typeface="Arial"/>
              <a:cs typeface="Arial"/>
              <a:sym typeface="Arial"/>
            </a:endParaRPr>
          </a:p>
          <a:p>
            <a:pPr indent="-179387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475"/>
              <a:buFont typeface="Arial"/>
              <a:buChar char="▪"/>
            </a:pPr>
            <a:r>
              <a:rPr lang="en" sz="1729">
                <a:latin typeface="Arial"/>
                <a:ea typeface="Arial"/>
                <a:cs typeface="Arial"/>
                <a:sym typeface="Arial"/>
              </a:rPr>
              <a:t>Synchronizes gradients across all model replicas</a:t>
            </a:r>
            <a:endParaRPr sz="1729">
              <a:latin typeface="Arial"/>
              <a:ea typeface="Arial"/>
              <a:cs typeface="Arial"/>
              <a:sym typeface="Arial"/>
            </a:endParaRPr>
          </a:p>
          <a:p>
            <a:pPr indent="-179387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475"/>
              <a:buFont typeface="Arial"/>
              <a:buChar char="▪"/>
            </a:pPr>
            <a:r>
              <a:rPr lang="en" sz="1729">
                <a:latin typeface="Arial"/>
                <a:ea typeface="Arial"/>
                <a:cs typeface="Arial"/>
                <a:sym typeface="Arial"/>
              </a:rPr>
              <a:t>Simple to implement but limited scaling efficiency</a:t>
            </a:r>
            <a:endParaRPr sz="172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365">
                <a:latin typeface="Arial"/>
                <a:ea typeface="Arial"/>
                <a:cs typeface="Arial"/>
                <a:sym typeface="Arial"/>
              </a:rPr>
              <a:t>Computational Model</a:t>
            </a:r>
            <a:r>
              <a:rPr lang="en" sz="1365">
                <a:latin typeface="Arial"/>
                <a:ea typeface="Arial"/>
                <a:cs typeface="Arial"/>
                <a:sym typeface="Arial"/>
              </a:rPr>
              <a:t>: Time per batch = Tcomp + Tcomm</a:t>
            </a:r>
            <a:endParaRPr sz="2130">
              <a:latin typeface="Arial"/>
              <a:ea typeface="Arial"/>
              <a:cs typeface="Arial"/>
              <a:sym typeface="Arial"/>
            </a:endParaRPr>
          </a:p>
          <a:p>
            <a:pPr indent="-179387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475"/>
              <a:buFont typeface="Arial"/>
              <a:buChar char="▪"/>
            </a:pPr>
            <a:r>
              <a:rPr lang="en" sz="1729">
                <a:latin typeface="Arial"/>
                <a:ea typeface="Arial"/>
                <a:cs typeface="Arial"/>
                <a:sym typeface="Arial"/>
              </a:rPr>
              <a:t>Tcomp = Forward and backward pass computation</a:t>
            </a:r>
            <a:endParaRPr sz="1729">
              <a:latin typeface="Arial"/>
              <a:ea typeface="Arial"/>
              <a:cs typeface="Arial"/>
              <a:sym typeface="Arial"/>
            </a:endParaRPr>
          </a:p>
          <a:p>
            <a:pPr indent="-179387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475"/>
              <a:buFont typeface="Arial"/>
              <a:buChar char="▪"/>
            </a:pPr>
            <a:r>
              <a:rPr lang="en" sz="1729">
                <a:latin typeface="Arial"/>
                <a:ea typeface="Arial"/>
                <a:cs typeface="Arial"/>
                <a:sym typeface="Arial"/>
              </a:rPr>
              <a:t>Tcomm = Gradient synchronization across devices</a:t>
            </a:r>
            <a:endParaRPr sz="1729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8100" y="1056625"/>
            <a:ext cx="3095625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241300" y="211074"/>
            <a:ext cx="77724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b="0" lang="en" sz="4200" cap="none">
                <a:latin typeface="Rockwell"/>
                <a:ea typeface="Rockwell"/>
                <a:cs typeface="Rockwell"/>
                <a:sym typeface="Rockwell"/>
              </a:rPr>
              <a:t>DISTRIBUTED DATA PARALLEL (DDP)</a:t>
            </a:r>
            <a:endParaRPr/>
          </a:p>
        </p:txBody>
      </p: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152400" y="1679950"/>
            <a:ext cx="49173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0978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57"/>
              <a:buFont typeface="Arial"/>
              <a:buChar char="▪"/>
            </a:pPr>
            <a:r>
              <a:rPr b="1" lang="en" sz="1992">
                <a:latin typeface="Arial"/>
                <a:ea typeface="Arial"/>
                <a:cs typeface="Arial"/>
                <a:sym typeface="Arial"/>
              </a:rPr>
              <a:t>Architecture &amp; Optimization:</a:t>
            </a:r>
            <a:endParaRPr sz="1992">
              <a:latin typeface="Arial"/>
              <a:ea typeface="Arial"/>
              <a:cs typeface="Arial"/>
              <a:sym typeface="Arial"/>
            </a:endParaRPr>
          </a:p>
          <a:p>
            <a:pPr indent="-2024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37"/>
              <a:buFont typeface="Arial"/>
              <a:buChar char="▪"/>
            </a:pPr>
            <a:r>
              <a:rPr lang="en" sz="1837">
                <a:latin typeface="Arial"/>
                <a:ea typeface="Arial"/>
                <a:cs typeface="Arial"/>
                <a:sym typeface="Arial"/>
              </a:rPr>
              <a:t>Process-based parallelism (one GPU per process)</a:t>
            </a:r>
            <a:endParaRPr sz="1837">
              <a:latin typeface="Arial"/>
              <a:ea typeface="Arial"/>
              <a:cs typeface="Arial"/>
              <a:sym typeface="Arial"/>
            </a:endParaRPr>
          </a:p>
          <a:p>
            <a:pPr indent="-2024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37"/>
              <a:buFont typeface="Arial"/>
              <a:buChar char="▪"/>
            </a:pPr>
            <a:r>
              <a:rPr lang="en" sz="1837">
                <a:latin typeface="Arial"/>
                <a:ea typeface="Arial"/>
                <a:cs typeface="Arial"/>
                <a:sym typeface="Arial"/>
              </a:rPr>
              <a:t>Bucket-based gradient synchronization for improved communication</a:t>
            </a:r>
            <a:endParaRPr sz="1837">
              <a:latin typeface="Arial"/>
              <a:ea typeface="Arial"/>
              <a:cs typeface="Arial"/>
              <a:sym typeface="Arial"/>
            </a:endParaRPr>
          </a:p>
          <a:p>
            <a:pPr indent="-2024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37"/>
              <a:buFont typeface="Arial"/>
              <a:buChar char="▪"/>
            </a:pPr>
            <a:r>
              <a:rPr lang="en" sz="1837">
                <a:latin typeface="Arial"/>
                <a:ea typeface="Arial"/>
                <a:cs typeface="Arial"/>
                <a:sym typeface="Arial"/>
              </a:rPr>
              <a:t>Overlap of computation and communication</a:t>
            </a:r>
            <a:endParaRPr sz="1837">
              <a:latin typeface="Arial"/>
              <a:ea typeface="Arial"/>
              <a:cs typeface="Arial"/>
              <a:sym typeface="Arial"/>
            </a:endParaRPr>
          </a:p>
          <a:p>
            <a:pPr indent="-2024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37"/>
              <a:buFont typeface="Arial"/>
              <a:buChar char="▪"/>
            </a:pPr>
            <a:r>
              <a:rPr lang="en" sz="1837">
                <a:latin typeface="Arial"/>
                <a:ea typeface="Arial"/>
                <a:cs typeface="Arial"/>
                <a:sym typeface="Arial"/>
              </a:rPr>
              <a:t>NCCL backend for GPU-to-GPU communication</a:t>
            </a:r>
            <a:endParaRPr sz="183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75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759">
              <a:latin typeface="Arial"/>
              <a:ea typeface="Arial"/>
              <a:cs typeface="Arial"/>
              <a:sym typeface="Arial"/>
            </a:endParaRPr>
          </a:p>
          <a:p>
            <a:pPr indent="-24177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57"/>
              <a:buFont typeface="Arial"/>
              <a:buChar char="▪"/>
            </a:pPr>
            <a:r>
              <a:rPr b="1" lang="en" sz="1992">
                <a:latin typeface="Arial"/>
                <a:ea typeface="Arial"/>
                <a:cs typeface="Arial"/>
                <a:sym typeface="Arial"/>
              </a:rPr>
              <a:t>Performance Enhancements</a:t>
            </a:r>
            <a:endParaRPr sz="1992">
              <a:latin typeface="Arial"/>
              <a:ea typeface="Arial"/>
              <a:cs typeface="Arial"/>
              <a:sym typeface="Arial"/>
            </a:endParaRPr>
          </a:p>
          <a:p>
            <a:pPr indent="-2024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37"/>
              <a:buFont typeface="Arial"/>
              <a:buChar char="▪"/>
            </a:pPr>
            <a:r>
              <a:rPr lang="en" sz="1837">
                <a:latin typeface="Arial"/>
                <a:ea typeface="Arial"/>
                <a:cs typeface="Arial"/>
                <a:sym typeface="Arial"/>
              </a:rPr>
              <a:t>Mixed-precision training using Automatic Mixed Precision (AMP)</a:t>
            </a:r>
            <a:endParaRPr sz="1837">
              <a:latin typeface="Arial"/>
              <a:ea typeface="Arial"/>
              <a:cs typeface="Arial"/>
              <a:sym typeface="Arial"/>
            </a:endParaRPr>
          </a:p>
          <a:p>
            <a:pPr indent="-2024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37"/>
              <a:buFont typeface="Arial"/>
              <a:buChar char="▪"/>
            </a:pPr>
            <a:r>
              <a:rPr lang="en" sz="1837">
                <a:latin typeface="Arial"/>
                <a:ea typeface="Arial"/>
                <a:cs typeface="Arial"/>
                <a:sym typeface="Arial"/>
              </a:rPr>
              <a:t>Learning rate scaling based on number of GPUs</a:t>
            </a:r>
            <a:endParaRPr sz="1837">
              <a:latin typeface="Arial"/>
              <a:ea typeface="Arial"/>
              <a:cs typeface="Arial"/>
              <a:sym typeface="Arial"/>
            </a:endParaRPr>
          </a:p>
          <a:p>
            <a:pPr indent="-2024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37"/>
              <a:buFont typeface="Arial"/>
              <a:buChar char="▪"/>
            </a:pPr>
            <a:r>
              <a:rPr lang="en" sz="1837">
                <a:latin typeface="Arial"/>
                <a:ea typeface="Arial"/>
                <a:cs typeface="Arial"/>
                <a:sym typeface="Arial"/>
              </a:rPr>
              <a:t>Warm-up learning rate scheduling</a:t>
            </a:r>
            <a:endParaRPr sz="1837"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8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775" y="1068350"/>
            <a:ext cx="3181350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152400" y="160274"/>
            <a:ext cx="77724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b="0" lang="en" sz="4200" cap="none">
                <a:latin typeface="Rockwell"/>
                <a:ea typeface="Rockwell"/>
                <a:cs typeface="Rockwell"/>
                <a:sym typeface="Rockwell"/>
              </a:rPr>
              <a:t>FULLY SHARDED DATA PARALLEL (FSDP)</a:t>
            </a:r>
            <a:endParaRPr/>
          </a:p>
        </p:txBody>
      </p:sp>
      <p:sp>
        <p:nvSpPr>
          <p:cNvPr id="205" name="Google Shape;205;p33"/>
          <p:cNvSpPr txBox="1"/>
          <p:nvPr>
            <p:ph idx="1" type="body"/>
          </p:nvPr>
        </p:nvSpPr>
        <p:spPr>
          <a:xfrm>
            <a:off x="152400" y="1679950"/>
            <a:ext cx="49173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0978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57"/>
              <a:buFont typeface="Arial"/>
              <a:buChar char="▪"/>
            </a:pPr>
            <a:r>
              <a:rPr b="1" lang="en" sz="1992">
                <a:latin typeface="Arial"/>
                <a:ea typeface="Arial"/>
                <a:cs typeface="Arial"/>
                <a:sym typeface="Arial"/>
              </a:rPr>
              <a:t>Memory Optimization Through Sharding:</a:t>
            </a:r>
            <a:endParaRPr sz="1992">
              <a:latin typeface="Arial"/>
              <a:ea typeface="Arial"/>
              <a:cs typeface="Arial"/>
              <a:sym typeface="Arial"/>
            </a:endParaRPr>
          </a:p>
          <a:p>
            <a:pPr indent="-2024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37"/>
              <a:buFont typeface="Arial"/>
              <a:buChar char="▪"/>
            </a:pPr>
            <a:r>
              <a:rPr lang="en" sz="1837">
                <a:latin typeface="Arial"/>
                <a:ea typeface="Arial"/>
                <a:cs typeface="Arial"/>
                <a:sym typeface="Arial"/>
              </a:rPr>
              <a:t>Model parameters sharded across GPUs to reduce memory requirements</a:t>
            </a:r>
            <a:endParaRPr sz="1837">
              <a:latin typeface="Arial"/>
              <a:ea typeface="Arial"/>
              <a:cs typeface="Arial"/>
              <a:sym typeface="Arial"/>
            </a:endParaRPr>
          </a:p>
          <a:p>
            <a:pPr indent="-2024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37"/>
              <a:buFont typeface="Arial"/>
              <a:buChar char="▪"/>
            </a:pPr>
            <a:r>
              <a:rPr lang="en" sz="1837">
                <a:latin typeface="Arial"/>
                <a:ea typeface="Arial"/>
                <a:cs typeface="Arial"/>
                <a:sym typeface="Arial"/>
              </a:rPr>
              <a:t>On-demand gathering of parameters for forward and backward passes</a:t>
            </a:r>
            <a:endParaRPr sz="1837">
              <a:latin typeface="Arial"/>
              <a:ea typeface="Arial"/>
              <a:cs typeface="Arial"/>
              <a:sym typeface="Arial"/>
            </a:endParaRPr>
          </a:p>
          <a:p>
            <a:pPr indent="-2024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37"/>
              <a:buFont typeface="Arial"/>
              <a:buChar char="▪"/>
            </a:pPr>
            <a:r>
              <a:rPr lang="en" sz="1837">
                <a:latin typeface="Arial"/>
                <a:ea typeface="Arial"/>
                <a:cs typeface="Arial"/>
                <a:sym typeface="Arial"/>
              </a:rPr>
              <a:t>Mixed-precision support for improved performance</a:t>
            </a:r>
            <a:endParaRPr sz="183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759">
              <a:latin typeface="Arial"/>
              <a:ea typeface="Arial"/>
              <a:cs typeface="Arial"/>
              <a:sym typeface="Arial"/>
            </a:endParaRPr>
          </a:p>
          <a:p>
            <a:pPr indent="-24177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57"/>
              <a:buFont typeface="Arial"/>
              <a:buChar char="▪"/>
            </a:pPr>
            <a:r>
              <a:rPr b="1" lang="en" sz="1992">
                <a:latin typeface="Arial"/>
                <a:ea typeface="Arial"/>
                <a:cs typeface="Arial"/>
                <a:sym typeface="Arial"/>
              </a:rPr>
              <a:t>Sharding Strategies Compared</a:t>
            </a:r>
            <a:endParaRPr sz="1992">
              <a:latin typeface="Arial"/>
              <a:ea typeface="Arial"/>
              <a:cs typeface="Arial"/>
              <a:sym typeface="Arial"/>
            </a:endParaRPr>
          </a:p>
          <a:p>
            <a:pPr indent="-2151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37"/>
              <a:buFont typeface="Arial"/>
              <a:buChar char="▪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FULL_SHARD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: All parameters, gradients, and optimizer states sharded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151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37"/>
              <a:buFont typeface="Arial"/>
              <a:buChar char="▪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SHARD_GRAD_OP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: Only gradients and optimizer states sharded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151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37"/>
              <a:buFont typeface="Arial"/>
              <a:buChar char="▪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NO_SHARD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: No sharding (equivalent to standard DDP)</a:t>
            </a:r>
            <a:endParaRPr sz="1837"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8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0200" y="751300"/>
            <a:ext cx="3286125" cy="41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317500" y="261874"/>
            <a:ext cx="77724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b="0" lang="en" sz="4200" cap="none">
                <a:latin typeface="Rockwell"/>
                <a:ea typeface="Rockwell"/>
                <a:cs typeface="Rockwell"/>
                <a:sym typeface="Rockwell"/>
              </a:rPr>
              <a:t>PARALLEL DATA LOADING PERFORMANCE</a:t>
            </a:r>
            <a:endParaRPr/>
          </a:p>
        </p:txBody>
      </p:sp>
      <p:sp>
        <p:nvSpPr>
          <p:cNvPr id="212" name="Google Shape;212;p34"/>
          <p:cNvSpPr txBox="1"/>
          <p:nvPr>
            <p:ph idx="1" type="body"/>
          </p:nvPr>
        </p:nvSpPr>
        <p:spPr>
          <a:xfrm>
            <a:off x="152400" y="1679950"/>
            <a:ext cx="43206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Comparative Analysis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Both Joblib and Dask showed improved performance with increasing CPU counts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Joblib outperformed Dask for smaller CPU counts (1-4)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Dask showed better scalability for larger clusters (8-16)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Sublinear speedup (8x with 16 CPUs) suggests I/O bottlenecks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5300" y="1021074"/>
            <a:ext cx="4923800" cy="32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type="title"/>
          </p:nvPr>
        </p:nvSpPr>
        <p:spPr>
          <a:xfrm>
            <a:off x="129550" y="211075"/>
            <a:ext cx="86487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lang="en"/>
              <a:t>GPU DATA PARALLELISM</a:t>
            </a:r>
            <a:r>
              <a:rPr b="0" lang="en" sz="4200" cap="none">
                <a:latin typeface="Rockwell"/>
                <a:ea typeface="Rockwell"/>
                <a:cs typeface="Rockwell"/>
                <a:sym typeface="Rockwell"/>
              </a:rPr>
              <a:t> PERFORMANCE</a:t>
            </a:r>
            <a:endParaRPr/>
          </a:p>
        </p:txBody>
      </p:sp>
      <p:sp>
        <p:nvSpPr>
          <p:cNvPr id="219" name="Google Shape;219;p35"/>
          <p:cNvSpPr txBox="1"/>
          <p:nvPr>
            <p:ph idx="1" type="body"/>
          </p:nvPr>
        </p:nvSpPr>
        <p:spPr>
          <a:xfrm>
            <a:off x="152400" y="1679950"/>
            <a:ext cx="43206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DP Analysis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Maximum speedup of 1.19x with 4 GPUs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Efficiency drops significantly from 100% to 30% with 4 GPUs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All-to-one gradient synchronization becomes bottleneck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Memory replication constrains batch size scaling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7150" y="774732"/>
            <a:ext cx="3731100" cy="2178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5"/>
          <p:cNvPicPr preferRelativeResize="0"/>
          <p:nvPr/>
        </p:nvPicPr>
        <p:blipFill rotWithShape="1">
          <a:blip r:embed="rId4">
            <a:alphaModFix/>
          </a:blip>
          <a:srcRect b="-4309" l="9606" r="-4627" t="11828"/>
          <a:stretch/>
        </p:blipFill>
        <p:spPr>
          <a:xfrm>
            <a:off x="5234950" y="2965475"/>
            <a:ext cx="3909048" cy="217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228600" y="134874"/>
            <a:ext cx="77724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b="0" lang="en" sz="4200" cap="none">
                <a:latin typeface="Rockwell"/>
                <a:ea typeface="Rockwell"/>
                <a:cs typeface="Rockwell"/>
                <a:sym typeface="Rockwell"/>
              </a:rPr>
              <a:t>DDP PERFORMANCE</a:t>
            </a:r>
            <a:endParaRPr/>
          </a:p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152400" y="1679950"/>
            <a:ext cx="43206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DDP Analysis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Better scaling than standard DP (1.98x speedup with 4 GPUs)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Efficiency remains above 60% with 2 GPUs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DDP with AMP provides additional speedup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Ring-based all-reduce pattern scales better with more GPUs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Process-based parallelism allows better computation-communication overlap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6550" y="846475"/>
            <a:ext cx="3584252" cy="209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6550" y="2938764"/>
            <a:ext cx="3584250" cy="2092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203200" y="96774"/>
            <a:ext cx="77724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b="0" lang="en" sz="4200" cap="none">
                <a:latin typeface="Rockwell"/>
                <a:ea typeface="Rockwell"/>
                <a:cs typeface="Rockwell"/>
                <a:sym typeface="Rockwell"/>
              </a:rPr>
              <a:t>FSDP PERFORMANCE</a:t>
            </a:r>
            <a:endParaRPr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152400" y="1679950"/>
            <a:ext cx="43206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FS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DP Analysis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SHARD_GRAD_OP strategy: best balance of speedup and memory efficiency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Training time reduced by 39% when scaling from 1 to 3 GPUs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Significantly reduced memory usage per GPU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Mixed precision training provided additional 1.5x speedup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7101" y="906475"/>
            <a:ext cx="3611375" cy="21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7100" y="2976675"/>
            <a:ext cx="3611375" cy="21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127000" y="122174"/>
            <a:ext cx="77724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b="0" lang="en" sz="4200" cap="none">
                <a:latin typeface="Rockwell"/>
                <a:ea typeface="Rockwell"/>
                <a:cs typeface="Rockwell"/>
                <a:sym typeface="Rockwell"/>
              </a:rPr>
              <a:t>PERFORMANCE MONITORING </a:t>
            </a:r>
            <a:r>
              <a:rPr lang="en"/>
              <a:t>WITH WEIGHT AND BIASES</a:t>
            </a:r>
            <a:endParaRPr/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190500" y="1842250"/>
            <a:ext cx="55398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2730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Real-time Resource Analysis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127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▪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GPU utilization patterns reveal computation and synchronization phases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127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▪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DDP and FSDP achieved more consistent GPU utilization compared to DP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127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▪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Memory utilization 40% more efficient with FSDP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12725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▪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Overlapping computation and communication more effective in DDP than DP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244" name="Google Shape;2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4951" y="3085033"/>
            <a:ext cx="2639050" cy="2058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6550" y="993175"/>
            <a:ext cx="2273300" cy="183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type="title"/>
          </p:nvPr>
        </p:nvSpPr>
        <p:spPr>
          <a:xfrm>
            <a:off x="685800" y="363474"/>
            <a:ext cx="7772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b="0" lang="en" sz="4200" cap="none">
                <a:latin typeface="Rockwell"/>
                <a:ea typeface="Rockwell"/>
                <a:cs typeface="Rockwell"/>
                <a:sym typeface="Rockwell"/>
              </a:rPr>
              <a:t>COMPARATIVE SCALING A</a:t>
            </a:r>
            <a:r>
              <a:rPr lang="en"/>
              <a:t>NALYSIS</a:t>
            </a:r>
            <a:endParaRPr/>
          </a:p>
        </p:txBody>
      </p:sp>
      <p:sp>
        <p:nvSpPr>
          <p:cNvPr id="251" name="Google Shape;251;p39"/>
          <p:cNvSpPr txBox="1"/>
          <p:nvPr>
            <p:ph idx="1" type="body"/>
          </p:nvPr>
        </p:nvSpPr>
        <p:spPr>
          <a:xfrm>
            <a:off x="685800" y="1591056"/>
            <a:ext cx="777240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3675" lvl="0" marL="182880" rtl="0" algn="l"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/>
              <a:t>DDP and FSDP consistently outperform DP across all configurations</a:t>
            </a:r>
            <a:endParaRPr/>
          </a:p>
          <a:p>
            <a:pPr indent="-193675" lvl="0" marL="182880" rtl="0" algn="l"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/>
              <a:t>2-GPU configurations show highest efficiency (≈62%)</a:t>
            </a:r>
            <a:endParaRPr/>
          </a:p>
          <a:p>
            <a:pPr indent="-193675" lvl="0" marL="182880" rtl="0" algn="l"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/>
              <a:t>4-GPU setups provide fastest absolute training times but reduced efficiency (≈49%)</a:t>
            </a:r>
            <a:endParaRPr/>
          </a:p>
          <a:p>
            <a:pPr indent="-193675" lvl="0" marL="182880" rtl="0" algn="l"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/>
              <a:t>FSDP with SHARD_GRAD_OP: optimal balance of memory and performance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/>
          <p:nvPr>
            <p:ph type="title"/>
          </p:nvPr>
        </p:nvSpPr>
        <p:spPr>
          <a:xfrm>
            <a:off x="685800" y="363474"/>
            <a:ext cx="7772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b="0" lang="en" sz="4200" cap="none">
                <a:latin typeface="Rockwell"/>
                <a:ea typeface="Rockwell"/>
                <a:cs typeface="Rockwell"/>
                <a:sym typeface="Rockwell"/>
              </a:rPr>
              <a:t>ENVIRONMENT &amp; HARDWARE</a:t>
            </a:r>
            <a:endParaRPr/>
          </a:p>
        </p:txBody>
      </p:sp>
      <p:sp>
        <p:nvSpPr>
          <p:cNvPr id="257" name="Google Shape;257;p40"/>
          <p:cNvSpPr txBox="1"/>
          <p:nvPr>
            <p:ph idx="1" type="body"/>
          </p:nvPr>
        </p:nvSpPr>
        <p:spPr>
          <a:xfrm>
            <a:off x="685800" y="1591056"/>
            <a:ext cx="77724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sz="20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- 4x V100s, RTX A5000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 sz="20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- Intel Xeon 6248 (20c/40t)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 sz="20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- 256GB RAM, CUDA 11.6, PyTorch 1.13.1</a:t>
            </a:r>
            <a:endParaRPr sz="20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193675" lvl="0" marL="182880" rtl="0" algn="l"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/>
              <a:t>-Software Stack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"/>
              <a:t>CUDA: 11.6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"/>
              <a:t>PyTorch: 1.13.1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"/>
              <a:t>Python: 3.8.10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200"/>
              </a:spcAft>
              <a:buSzPts val="1530"/>
              <a:buChar char="▪"/>
            </a:pPr>
            <a:r>
              <a:rPr lang="en"/>
              <a:t>Libraries: Joblib, Dask, NumPy, OpenCV, H5py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1"/>
          <p:cNvSpPr txBox="1"/>
          <p:nvPr>
            <p:ph type="title"/>
          </p:nvPr>
        </p:nvSpPr>
        <p:spPr>
          <a:xfrm>
            <a:off x="228600" y="109474"/>
            <a:ext cx="77724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b="0" lang="en" sz="4200" cap="none">
                <a:latin typeface="Rockwell"/>
                <a:ea typeface="Rockwell"/>
                <a:cs typeface="Rockwell"/>
                <a:sym typeface="Rockwell"/>
              </a:rPr>
              <a:t>CONCLUSIONS</a:t>
            </a:r>
            <a:endParaRPr/>
          </a:p>
        </p:txBody>
      </p:sp>
      <p:sp>
        <p:nvSpPr>
          <p:cNvPr id="263" name="Google Shape;263;p41"/>
          <p:cNvSpPr txBox="1"/>
          <p:nvPr>
            <p:ph idx="1" type="body"/>
          </p:nvPr>
        </p:nvSpPr>
        <p:spPr>
          <a:xfrm>
            <a:off x="101600" y="1316375"/>
            <a:ext cx="8371800" cy="3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3678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657"/>
              <a:buFont typeface="Arial"/>
              <a:buChar char="▪"/>
            </a:pPr>
            <a:r>
              <a:rPr b="1" lang="en" sz="2192">
                <a:latin typeface="Arial"/>
                <a:ea typeface="Arial"/>
                <a:cs typeface="Arial"/>
                <a:sym typeface="Arial"/>
              </a:rPr>
              <a:t>Key Findings on Parallelization Strategies</a:t>
            </a:r>
            <a:endParaRPr sz="2192">
              <a:latin typeface="Arial"/>
              <a:ea typeface="Arial"/>
              <a:cs typeface="Arial"/>
              <a:sym typeface="Arial"/>
            </a:endParaRPr>
          </a:p>
          <a:p>
            <a:pPr indent="-2151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37"/>
              <a:buFont typeface="Arial"/>
              <a:buChar char="▪"/>
            </a:pPr>
            <a:r>
              <a:rPr lang="en" sz="2037">
                <a:latin typeface="Arial"/>
                <a:ea typeface="Arial"/>
                <a:cs typeface="Arial"/>
                <a:sym typeface="Arial"/>
              </a:rPr>
              <a:t>Joblib: Best for small-to-medium workloads on a single machine</a:t>
            </a:r>
            <a:endParaRPr sz="2037">
              <a:latin typeface="Arial"/>
              <a:ea typeface="Arial"/>
              <a:cs typeface="Arial"/>
              <a:sym typeface="Arial"/>
            </a:endParaRPr>
          </a:p>
          <a:p>
            <a:pPr indent="-2151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37"/>
              <a:buFont typeface="Arial"/>
              <a:buChar char="▪"/>
            </a:pPr>
            <a:r>
              <a:rPr lang="en" sz="2037">
                <a:latin typeface="Arial"/>
                <a:ea typeface="Arial"/>
                <a:cs typeface="Arial"/>
                <a:sym typeface="Arial"/>
              </a:rPr>
              <a:t>Dask: Better scalability for larger clusters</a:t>
            </a:r>
            <a:endParaRPr sz="2037">
              <a:latin typeface="Arial"/>
              <a:ea typeface="Arial"/>
              <a:cs typeface="Arial"/>
              <a:sym typeface="Arial"/>
            </a:endParaRPr>
          </a:p>
          <a:p>
            <a:pPr indent="-2151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37"/>
              <a:buFont typeface="Arial"/>
              <a:buChar char="▪"/>
            </a:pPr>
            <a:r>
              <a:rPr lang="en" sz="2037">
                <a:latin typeface="Arial"/>
                <a:ea typeface="Arial"/>
                <a:cs typeface="Arial"/>
                <a:sym typeface="Arial"/>
              </a:rPr>
              <a:t>DDP: Nearly 2x speedup with 4 GPUs compared to single GPU</a:t>
            </a:r>
            <a:endParaRPr sz="2037">
              <a:latin typeface="Arial"/>
              <a:ea typeface="Arial"/>
              <a:cs typeface="Arial"/>
              <a:sym typeface="Arial"/>
            </a:endParaRPr>
          </a:p>
          <a:p>
            <a:pPr indent="-2151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37"/>
              <a:buFont typeface="Arial"/>
              <a:buChar char="▪"/>
            </a:pPr>
            <a:r>
              <a:rPr lang="en" sz="2037">
                <a:latin typeface="Arial"/>
                <a:ea typeface="Arial"/>
                <a:cs typeface="Arial"/>
                <a:sym typeface="Arial"/>
              </a:rPr>
              <a:t>FSDP: Optimal balance of memory efficiency and computational performance</a:t>
            </a:r>
            <a:endParaRPr sz="2037">
              <a:latin typeface="Arial"/>
              <a:ea typeface="Arial"/>
              <a:cs typeface="Arial"/>
              <a:sym typeface="Arial"/>
            </a:endParaRPr>
          </a:p>
          <a:p>
            <a:pPr indent="-21510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37"/>
              <a:buFont typeface="Arial"/>
              <a:buChar char="▪"/>
            </a:pPr>
            <a:r>
              <a:rPr lang="en" sz="2037">
                <a:latin typeface="Arial"/>
                <a:ea typeface="Arial"/>
                <a:cs typeface="Arial"/>
                <a:sym typeface="Arial"/>
              </a:rPr>
              <a:t>Mixed precision with AMP: Up to 1.5x speedup with minimal accuracy impact</a:t>
            </a:r>
            <a:endParaRPr sz="203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3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959">
              <a:latin typeface="Arial"/>
              <a:ea typeface="Arial"/>
              <a:cs typeface="Arial"/>
              <a:sym typeface="Arial"/>
            </a:endParaRPr>
          </a:p>
          <a:p>
            <a:pPr indent="-25447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657"/>
              <a:buFont typeface="Arial"/>
              <a:buChar char="▪"/>
            </a:pPr>
            <a:r>
              <a:rPr b="1" lang="en" sz="2192">
                <a:latin typeface="Arial"/>
                <a:ea typeface="Arial"/>
                <a:cs typeface="Arial"/>
                <a:sym typeface="Arial"/>
              </a:rPr>
              <a:t>Future Directions</a:t>
            </a:r>
            <a:endParaRPr sz="2192">
              <a:latin typeface="Arial"/>
              <a:ea typeface="Arial"/>
              <a:cs typeface="Arial"/>
              <a:sym typeface="Arial"/>
            </a:endParaRPr>
          </a:p>
          <a:p>
            <a:pPr indent="-25955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737"/>
              <a:buFont typeface="Arial"/>
              <a:buChar char="▪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Testing on larger clusters (8+ GPUs)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955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737"/>
              <a:buFont typeface="Arial"/>
              <a:buChar char="▪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Exploring Zero Redundancy Optimizer (ZeRO-3) for more efficient distributed training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9553" lvl="0" marL="1828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737"/>
              <a:buFont typeface="Arial"/>
              <a:buChar char="▪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Edge deployment optimizations with model compression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>
            <p:ph type="title"/>
          </p:nvPr>
        </p:nvSpPr>
        <p:spPr>
          <a:xfrm>
            <a:off x="685800" y="363474"/>
            <a:ext cx="7772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b="0" lang="en" sz="4200" cap="none">
                <a:latin typeface="Rockwell"/>
                <a:ea typeface="Rockwell"/>
                <a:cs typeface="Rockwell"/>
                <a:sym typeface="Rockwell"/>
              </a:rPr>
              <a:t>REFERENCES</a:t>
            </a:r>
            <a:endParaRPr/>
          </a:p>
        </p:txBody>
      </p:sp>
      <p:sp>
        <p:nvSpPr>
          <p:cNvPr id="269" name="Google Shape;269;p42"/>
          <p:cNvSpPr txBox="1"/>
          <p:nvPr>
            <p:ph idx="1" type="body"/>
          </p:nvPr>
        </p:nvSpPr>
        <p:spPr>
          <a:xfrm>
            <a:off x="533400" y="1425956"/>
            <a:ext cx="77724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0025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National Retail Federation, "2023 National Retail Security Survey," NRF, 2023.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Sultani, W., Chen, C., &amp; Shah, M. (2018). Real-world Anomaly Detection in Surveillance Videos. Proceedings of the IEEE Conference on Computer Vision and Pattern Recognition (CVPR), 6479-6488.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Dask Development Team, "Dask: Library for dynamic task scheduling," 2016. [Online]. Available:</a:t>
            </a:r>
            <a:r>
              <a:rPr lang="en" sz="12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https://dask.org</a:t>
            </a:r>
            <a:endParaRPr sz="12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Joblib Development Team, "Joblib: running Python functions as pipeline jobs," 2020. [Online]. Available:</a:t>
            </a:r>
            <a:r>
              <a:rPr lang="en" sz="12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/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https://joblib.readthedocs.io</a:t>
            </a:r>
            <a:endParaRPr sz="12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Li, S., et al. (2023). "PyTorch FSDP: Experiences on Scaling Fully Sharded Data Parallel," arXiv preprint arXiv:2304.11277.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PyTorch Team, "PyTorch Distributed: Experiences on Accelerating Data Parallel Training," 2020.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00025" lvl="0" marL="18288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Cao, Z., Hidalgo, G., Simon, T., Wei, S. E., &amp; Sheikh, Y. (2021). OpenPose: Realtime multi-person 2D pose estimation using Part Affinity Fields. IEEE Transactions on Pattern Analysis and Machine Intelligence, 43(1), 172-186.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